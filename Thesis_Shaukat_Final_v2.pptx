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72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IISc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914400" cy="914400"/>
          </a:xfrm>
          <a:prstGeom prst="rect">
            <a:avLst/>
          </a:prstGeom>
        </p:spPr>
      </p:pic>
      <p:pic>
        <p:nvPicPr>
          <p:cNvPr id="3" name="Image 1" descr="/mnt/user-data/uploads/IAP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09728"/>
            <a:ext cx="96012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B8860B"/>
                </a:solidFill>
              </a:rPr>
              <a:t>BACHELOR'S THESIS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457200" y="68580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2A6B"/>
                </a:solidFill>
              </a:rPr>
              <a:t>PHOTONIC DISCLINATION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B2A6B"/>
                </a:solidFill>
              </a:rPr>
              <a:t>VORTEX CAVITY IN THz REGIME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474720" y="2331720"/>
            <a:ext cx="219456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457200" y="24871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</a:rPr>
              <a:t>Tera-QuaNTA Lab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2807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Instrumentation and Applied Physics (IAP), IISc Bangalore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3364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Presenter: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3621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6B"/>
                </a:solidFill>
              </a:rPr>
              <a:t>Shaukat Aziz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Sr no: 22171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65760" y="4114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Bachelor of Science (Research) in Physics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69280" y="33649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6B"/>
                </a:solidFill>
              </a:rPr>
              <a:t>Thesis Instructor: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69280" y="3621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2A6B"/>
                </a:solidFill>
              </a:rPr>
              <a:t>Prof. Manukumara Manjappa</a:t>
            </a:r>
            <a:endParaRPr lang="en-US" sz="1200" dirty="0"/>
          </a:p>
        </p:txBody>
      </p:sp>
      <p:pic>
        <p:nvPicPr>
          <p:cNvPr id="15" name="Image 2" descr="/mnt/user-data/uploads/TeraQuaNTA-Logo-9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13632"/>
            <a:ext cx="2834640" cy="8046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Department of Instrumentation and Applied Physics  ·  Indian Institute of Science  ·  Bangalore  · 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OUTLINE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252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Presentation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664208"/>
            <a:ext cx="4114800" cy="566928"/>
          </a:xfrm>
          <a:prstGeom prst="rect">
            <a:avLst/>
          </a:prstGeom>
          <a:solidFill>
            <a:srgbClr val="EEF2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66420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78408" y="17007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Motivation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1938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High-Q THz cavity via topological robustness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4114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34086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8408" y="23408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Literature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78408" y="2578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3 key papers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114800" cy="566928"/>
          </a:xfrm>
          <a:prstGeom prst="rect">
            <a:avLst/>
          </a:prstGeom>
          <a:solidFill>
            <a:srgbClr val="EEF2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94436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98094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9809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Theory (Beamer)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3218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SSH · HOTI · Disclination — see attached .tex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4114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358444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36210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Volterra Process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3858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C4 → C5 transformation with animation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4224528"/>
            <a:ext cx="4114800" cy="566928"/>
          </a:xfrm>
          <a:prstGeom prst="rect">
            <a:avLst/>
          </a:prstGeom>
          <a:solidFill>
            <a:srgbClr val="EEF2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11480" y="422452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42611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42611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Band 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" y="44988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MEEP simulations · Photonic bandgap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664208"/>
            <a:ext cx="4114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166420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170078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17007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Cavity Design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19385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TB↔Optics table · Why Hz field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304288"/>
            <a:ext cx="4114800" cy="566928"/>
          </a:xfrm>
          <a:prstGeom prst="rect">
            <a:avLst/>
          </a:prstGeom>
          <a:solidFill>
            <a:srgbClr val="EEF2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230428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46320" y="234086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234086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COMSOL Simulation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25786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FEM eigenmode analysis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2944368"/>
            <a:ext cx="41148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54880" y="294436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46320" y="298094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298094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Results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21808" y="3218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Hz field profiles · High-Q modes in THz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3584448"/>
            <a:ext cx="4114800" cy="566928"/>
          </a:xfrm>
          <a:prstGeom prst="rect">
            <a:avLst/>
          </a:prstGeom>
          <a:solidFill>
            <a:srgbClr val="EEF2FF"/>
          </a:solidFill>
          <a:ln w="7620">
            <a:solidFill>
              <a:srgbClr val="1B2A6B">
                <a:alpha val="2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754880" y="3584448"/>
            <a:ext cx="54864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46320" y="362102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21808" y="36210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Conclusions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21808" y="3858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Key findings · Future directions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1: Motivation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Why THz? Why a disclination cavity?</a:t>
            </a:r>
            <a:endParaRPr lang="en-US" sz="1200" dirty="0"/>
          </a:p>
        </p:txBody>
      </p:sp>
      <p:pic>
        <p:nvPicPr>
          <p:cNvPr id="7" name="Image 0" descr="/mnt/user-data/uploads/TeraQuaNTA-Logo-9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462272"/>
            <a:ext cx="274320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Engineering a High-Q THz Cavity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847088"/>
            <a:ext cx="8321040" cy="658368"/>
          </a:xfrm>
          <a:prstGeom prst="rect">
            <a:avLst/>
          </a:prstGeom>
          <a:solidFill>
            <a:srgbClr val="FFF8E1"/>
          </a:solidFill>
          <a:ln w="15240">
            <a:solidFill>
              <a:srgbClr val="B8860B">
                <a:alpha val="7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847088"/>
            <a:ext cx="54864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8928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6B"/>
                </a:solidFill>
              </a:rPr>
              <a:t>Core Principle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1031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The bulk photonic crystal has a photonic bandgap. By introducing a disclination defect (Volterra process), localised in-gap resonances appear inside this bandgap. We engineer the cavity geometry — hole radius r₀, offset d₀ — so these resonances fall in the THz range, yielding a high-Q confined mode.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596896"/>
            <a:ext cx="8321040" cy="713232"/>
          </a:xfrm>
          <a:prstGeom prst="rect">
            <a:avLst/>
          </a:prstGeom>
          <a:solidFill>
            <a:srgbClr val="EEF2FF"/>
          </a:solidFill>
          <a:ln w="8890">
            <a:solidFill>
              <a:srgbClr val="0D7C6E">
                <a:alpha val="4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2596896"/>
            <a:ext cx="54864" cy="713232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" y="2670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High-Q Cavity for THz Regime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93522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Terahertz (0.1–10 THz) sits in the electromagnetic spectrum between microwave and infrared. THz devices are scarce due to the "THz gap". A high-Q disclination cavity provides resonant field enhancement enabling efficient THz light-matter interaction for sensing and communications.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346704"/>
            <a:ext cx="8321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6B21A8">
                <a:alpha val="4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3346704"/>
            <a:ext cx="54864" cy="7132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6928" y="3419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Robustness via Topology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6850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Unlike conventional Fabry-Pérot or whispering-gallery cavities, the disclination resonance is topologically protected. It persists under fabrication disorder, geometric perturbations, or material inhomogeneities — because it arises from a bulk topological invariant, not from precise interface engineering.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096512"/>
            <a:ext cx="8321040" cy="713232"/>
          </a:xfrm>
          <a:prstGeom prst="rect">
            <a:avLst/>
          </a:prstGeom>
          <a:solidFill>
            <a:srgbClr val="EEF2FF"/>
          </a:solidFill>
          <a:ln w="8890">
            <a:solidFill>
              <a:srgbClr val="DC2626">
                <a:alpha val="4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4096512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41696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Application: Quantum Sensing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44348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High-Q cavities (Q ≫ 10³) enable cavity-enhanced spectroscopy, single-molecule detection, and strong light-matter coupling. In THz, this opens pathways to THz quantum sensing, low-threshold lasing, and coupling to molecular vibrational transitions or superconducting qubits.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2: Literature Review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3 key works that underpin this thesis</a:t>
            </a:r>
            <a:endParaRPr lang="en-US" sz="1200" dirty="0"/>
          </a:p>
        </p:txBody>
      </p:sp>
      <p:pic>
        <p:nvPicPr>
          <p:cNvPr id="7" name="Image 0" descr="/mnt/user-data/uploads/TeraQuaNTA-Logo-9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462272"/>
            <a:ext cx="274320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Key Papers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664208"/>
            <a:ext cx="8321040" cy="1024128"/>
          </a:xfrm>
          <a:prstGeom prst="rect">
            <a:avLst/>
          </a:prstGeom>
          <a:solidFill>
            <a:srgbClr val="EEF2FF"/>
          </a:solidFill>
          <a:ln w="10160">
            <a:solidFill>
              <a:srgbClr val="0D7C6E">
                <a:alpha val="5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664208"/>
            <a:ext cx="54864" cy="102412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7190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6B"/>
                </a:solidFill>
              </a:rPr>
              <a:t>[1]  Hwang, Kim, Kivshar et al. — Nature Photonics 18, 286–293 (2024)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93852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D7C6E"/>
                </a:solidFill>
              </a:rPr>
              <a:t>Vortex nanolaser based on a photonic disclination cavity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1396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Primary reference. C5 photonic disclination nanocavity on InGaAsP slab (n=3.33). Volterra process C4→Cn validated for C3, C5, C6. Tight-binding ↔ FEM correspondence established. Vortex and anti-vortex lasing at λ=1.55 µm, Q &gt; 10⁴ in 3D. OAM states l = 0, ±1, ±2 experimentally verified via self-interference fork fringes and Stokes parameter analysis. This thesis adapts the design to THz regime by scaling the lattice constant by ×100.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779776"/>
            <a:ext cx="832104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>
                <a:alpha val="5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779776"/>
            <a:ext cx="54864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283464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6B"/>
                </a:solidFill>
              </a:rPr>
              <a:t>[2]  Zhang et al. — Science 368, 760–763 (2020)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305409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C2626"/>
                </a:solidFill>
              </a:rPr>
              <a:t>Tunable topological charge vortex microlaser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2552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Non-Hermitian controlled vortex microlaser. InGaAsP microring + external bus waveguide with two control arms. Selective optical pumping breaks chiral symmetry via asymmetric gain/loss (exceptional point). Spin-orbit locking maps SAM→OAM via angular grating. Five OAM states (l = −2 to +2) emitted at a single wavelength λ = 1492.6 nm. Demonstrates the viability of topologically tunable OAM laser emission.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895344"/>
            <a:ext cx="8321040" cy="1024128"/>
          </a:xfrm>
          <a:prstGeom prst="rect">
            <a:avLst/>
          </a:prstGeom>
          <a:solidFill>
            <a:srgbClr val="EEF2FF"/>
          </a:solidFill>
          <a:ln w="10160">
            <a:solidFill>
              <a:srgbClr val="6B21A8">
                <a:alpha val="5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3895344"/>
            <a:ext cx="54864" cy="10241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9502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6B"/>
                </a:solidFill>
              </a:rPr>
              <a:t>[3]  B.-Y. Xie et al. — Phys. Rev. Lett. 122, 233903 (2019)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16966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21A8"/>
                </a:solidFill>
              </a:rPr>
              <a:t>Visualization of higher-order topological insulating phases in 2D dielectric photonic crystals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3708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First photonic realisation of a HOTI using 2D dielectric photonic crystals. Corner states in photonic bandgap directly observed and imaged. Validated the tight-binding ↔ photonic crystal analogy for a C4-symmetric SSH lattice. Proved that Hz-field antinodes at M-point localise at unit-cell corners, establishing the foundation for the disclination cavity approach used in this thesis.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3: Theory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7" name="Image 0" descr="/mnt/user-data/uploads/TeraQuaNTA-Logo-9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462272"/>
            <a:ext cx="274320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THEORY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Why TE Mode? The Hz Field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804672"/>
          </a:xfrm>
          <a:prstGeom prst="rect">
            <a:avLst/>
          </a:prstGeom>
          <a:solidFill>
            <a:srgbClr val="EEF2FF"/>
          </a:solidFill>
          <a:ln w="8890">
            <a:solidFill>
              <a:srgbClr val="0D7C6E">
                <a:alpha val="4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4864" cy="804672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13624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Slab Mode Decoupling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In a 2D photonic crystal slab (z-independent), Maxwell's equations decouple into: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• TM modes: nonzero (Hx, Hy, Ez)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• TE modes: nonzero (Ex, Ey, Hz)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We work with TE modes — governed by: ω²μ₀Hz = −∇⊥·(1/ε ∇⊥Hz)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83210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B8860B">
                <a:alpha val="4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54864" cy="8046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22768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Wider Band Gap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5420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TE modes in air-hole dielectric slabs exhibit a wider, more robust photonic band gap than TM modes. The TE electric field is continuous across dielectric-air interfaces, sampling the periodicity more strongly → better Bragg confinement.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27248"/>
            <a:ext cx="8321040" cy="804672"/>
          </a:xfrm>
          <a:prstGeom prst="rect">
            <a:avLst/>
          </a:prstGeom>
          <a:solidFill>
            <a:srgbClr val="EEF2FF"/>
          </a:solidFill>
          <a:ln w="8890">
            <a:solidFill>
              <a:srgbClr val="6B21A8">
                <a:alpha val="4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54864" cy="80467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31912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SSH Tight-Binding Correspondence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4564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Hz-field antinodes at the M-point of the BZ localise precisely at unit-cell corner sites — exactly where the SSH model places its 4 atom sites. This one-to-one spatial correspondence is what makes the TB↔photonic mapping rigorous. TM modes do not reproduce this corner localisation.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041648"/>
            <a:ext cx="8321040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DC2626">
                <a:alpha val="48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4041648"/>
            <a:ext cx="54864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410565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Vortex Emission from Hz Symmetry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3708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Modes with C5 angular momentum l have Hz(r, φ+2π/5) = Hz(r,φ)·e^(i2πl/5). The electric field E is derived from ∂φHz and ∂rHz (Supp. Eq. 8). The l = ±1 modes produce vector vortex beams with OAM charge q = ±1 in the far field — the target laser output.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4: Volterra Process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C4 → C5 Disclination via angular sector insertion</a:t>
            </a:r>
            <a:endParaRPr lang="en-US" sz="1200" dirty="0"/>
          </a:p>
        </p:txBody>
      </p:sp>
      <p:pic>
        <p:nvPicPr>
          <p:cNvPr id="7" name="Image 0" descr="/mnt/user-data/uploads/TeraQuaNTA-Logo-9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462272"/>
            <a:ext cx="274320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188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>
                <a:solidFill>
                  <a:srgbClr val="B8860B"/>
                </a:solidFill>
              </a:rPr>
              <a:t>VOLTERRA PROCESS 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79993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From C4 Bulk Lattice to C5 Photonic Disclination Cavity</a:t>
            </a:r>
            <a:endParaRPr lang="en-US" sz="2400" dirty="0"/>
          </a:p>
        </p:txBody>
      </p:sp>
      <p:pic>
        <p:nvPicPr>
          <p:cNvPr id="4" name="Image 0" descr="/mnt/user-data/uploads/177700053422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6379"/>
            <a:ext cx="5303520" cy="1691640"/>
          </a:xfrm>
          <a:prstGeom prst="rect">
            <a:avLst/>
          </a:prstGeom>
        </p:spPr>
      </p:pic>
      <p:pic>
        <p:nvPicPr>
          <p:cNvPr id="5" name="Image 1" descr="/mnt/user-data/uploads/volterra_c4_to_c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076379"/>
            <a:ext cx="2690949" cy="1691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06440" y="2813739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Animation: C4 → C5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(volterra_c4_to_cn.gif)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11480" y="2850315"/>
            <a:ext cx="8321040" cy="658368"/>
          </a:xfrm>
          <a:prstGeom prst="rect">
            <a:avLst/>
          </a:prstGeom>
          <a:solidFill>
            <a:srgbClr val="FFF8E1"/>
          </a:solidFill>
          <a:ln w="8890">
            <a:solidFill>
              <a:srgbClr val="B8860B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411480" y="2850315"/>
            <a:ext cx="54864" cy="6583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66928" y="2914323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Frank Angle Ω = π/2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6928" y="3152067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Removing/inserting an angular sector of Ω = π/2 converts C4 → C5. The total angle 2π becomes 2π + Ω, then compressed back. The disclination traps fractional charge, guaranteeing in-gap localised modes.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11480" y="3600123"/>
            <a:ext cx="8321040" cy="658368"/>
          </a:xfrm>
          <a:prstGeom prst="rect">
            <a:avLst/>
          </a:prstGeom>
          <a:solidFill>
            <a:srgbClr val="EEF2FF"/>
          </a:solidFill>
          <a:ln w="8890">
            <a:solidFill>
              <a:srgbClr val="0D7C6E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11480" y="3600123"/>
            <a:ext cx="54864" cy="65836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66928" y="3664131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Three-step design (from paper)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6928" y="3901875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(i) Cut C4 lattice at θ = 0, (ii) Insert a C4-tiled sector of angle Ω, (iii) Compress angle 2π+Ω → 2π. The resulting pentagon-shaped slab has C5 symmetry with 5 in-gap eigenstates l = 0, ±1, ±2.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1480" y="4368219"/>
            <a:ext cx="8321040" cy="155448"/>
          </a:xfrm>
          <a:prstGeom prst="rect">
            <a:avLst/>
          </a:prstGeom>
          <a:solidFill>
            <a:srgbClr val="F8F4E8"/>
          </a:solidFill>
          <a:ln w="7620">
            <a:solidFill>
              <a:srgbClr val="B886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457200" y="4386507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Ref: Hwang, Kim, Kivshar et al., Nature Photonics 18, 286 (2024) — Fig. 1a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5: Band Structure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MEEP photonic band structure simulations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BAND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698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Photonic Band Structure — MEEP FDTD Simulation</a:t>
            </a:r>
            <a:endParaRPr lang="en-US" sz="2400" dirty="0"/>
          </a:p>
        </p:txBody>
      </p:sp>
      <p:pic>
        <p:nvPicPr>
          <p:cNvPr id="4" name="Image 0" descr="/mnt/user-data/uploads/177700034727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208"/>
            <a:ext cx="169164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160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C4 unit cell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(d₀ = offset, r₀ = hole radius, a = lattice const.)</a:t>
            </a:r>
            <a:endParaRPr lang="en-US" sz="800" dirty="0"/>
          </a:p>
        </p:txBody>
      </p:sp>
      <p:pic>
        <p:nvPicPr>
          <p:cNvPr id="6" name="Image 1" descr="/mnt/user-data/uploads/Band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1554480"/>
            <a:ext cx="4206240" cy="2788920"/>
          </a:xfrm>
          <a:prstGeom prst="rect">
            <a:avLst/>
          </a:prstGeom>
        </p:spPr>
      </p:pic>
      <p:pic>
        <p:nvPicPr>
          <p:cNvPr id="7" name="Image 2" descr="/mnt/user-data/uploads/bandstructure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554480"/>
            <a:ext cx="2240280" cy="2788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37960" y="43708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Band structure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</a:rPr>
              <a:t>animation (offset sweep)</a:t>
            </a:r>
            <a:endParaRPr lang="en-US" sz="800" dirty="0"/>
          </a:p>
        </p:txBody>
      </p:sp>
      <p:sp>
        <p:nvSpPr>
          <p:cNvPr id="9" name="Shape 4"/>
          <p:cNvSpPr/>
          <p:nvPr/>
        </p:nvSpPr>
        <p:spPr>
          <a:xfrm>
            <a:off x="411480" y="4645152"/>
            <a:ext cx="4023360" cy="402336"/>
          </a:xfrm>
          <a:prstGeom prst="rect">
            <a:avLst/>
          </a:prstGeom>
          <a:solidFill>
            <a:srgbClr val="EEF2FF"/>
          </a:solidFill>
          <a:ln w="7620">
            <a:solidFill>
              <a:srgbClr val="0D7C6E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411480" y="4645152"/>
            <a:ext cx="54864" cy="402336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566928" y="4690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B2A6B"/>
                </a:solidFill>
              </a:rPr>
              <a:t>Gap = 0.320 THz — offset = 0.18a — topological phase (d₀ &lt; a/2 × √2). In-gap disclination states fall in this window.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4617720" y="4645152"/>
            <a:ext cx="4023360" cy="402336"/>
          </a:xfrm>
          <a:prstGeom prst="rect">
            <a:avLst/>
          </a:prstGeom>
          <a:solidFill>
            <a:srgbClr val="EEF2FF"/>
          </a:solidFill>
          <a:ln w="7620">
            <a:solidFill>
              <a:srgbClr val="6B21A8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4617720" y="4645152"/>
            <a:ext cx="54864" cy="40233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4773168" y="46908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B2A6B"/>
                </a:solidFill>
              </a:rPr>
              <a:t>Γ → X → M → Γ — Computed by MEEP FDTD with Harminv. 50 k-points per segment. TE polarisation only.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11480" y="4956048"/>
            <a:ext cx="8321040" cy="155448"/>
          </a:xfrm>
          <a:prstGeom prst="rect">
            <a:avLst/>
          </a:prstGeom>
          <a:solidFill>
            <a:srgbClr val="F8F4E8"/>
          </a:solidFill>
          <a:ln w="7620">
            <a:solidFill>
              <a:srgbClr val="B886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457200" y="4974336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Band structure computed using MIT MEEP (FDTD) + Harminv. Unit cell: C4-symmetric InGaAsP slab, a = 50 µm (THz-scaled), r₀ = 0.18a.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6: Cavity Design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TB↔Optics correspondence · C5 parameters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173048"/>
            <a:ext cx="14042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CAVITY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546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Tight-Binding ↔ Photonic Crystal Correspondence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520520"/>
            <a:ext cx="5120640" cy="31089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557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TB Property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08960" y="15570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Photonic Analogue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849704"/>
            <a:ext cx="5120640" cy="33832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88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Lattice site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08960" y="188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Air hole in dielectric slab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206320"/>
            <a:ext cx="5120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2428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Intra-cell hopping t₁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08960" y="2242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Hole spacing &lt; a/2 (topological: d₀=0.18a)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562936"/>
            <a:ext cx="5120640" cy="33832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599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Inter-cell hopping t₂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108960" y="2599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Hole spacing &gt; a/2 (trivial: d₀=0.25a)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919552"/>
            <a:ext cx="5120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956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NNN hopping tnn = t₂/√2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08960" y="295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Next-nearest hole coupling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276168"/>
            <a:ext cx="5120640" cy="33832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312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Eigenvalue 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08960" y="3312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Resonant frequency 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632784"/>
            <a:ext cx="5120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669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In-gap state at E≈0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08960" y="3669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Mode frequency inside photonic bandgap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989400"/>
            <a:ext cx="5120640" cy="33832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025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Angular momentum 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0" y="40259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Hz phase winding: C5 gives l = 0,±1,±2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346016"/>
            <a:ext cx="51206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4382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Topological invariant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108960" y="4382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C6E"/>
                </a:solidFill>
              </a:rPr>
              <a:t>Quantised disclination charge</a:t>
            </a:r>
            <a:endParaRPr lang="en-US" sz="950" dirty="0"/>
          </a:p>
        </p:txBody>
      </p:sp>
      <p:pic>
        <p:nvPicPr>
          <p:cNvPr id="31" name="Image 0" descr="/mnt/user-data/uploads/177700265600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520520"/>
            <a:ext cx="3063240" cy="192024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5669280" y="3495624"/>
            <a:ext cx="3063240" cy="969264"/>
          </a:xfrm>
          <a:prstGeom prst="rect">
            <a:avLst/>
          </a:prstGeom>
          <a:solidFill>
            <a:srgbClr val="EEF2FF"/>
          </a:solidFill>
          <a:ln w="8890">
            <a:solidFill>
              <a:srgbClr val="6B21A8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715000" y="35322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C5 Tight-Binding: In-Gap States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15000" y="375165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5 in-gap states (l = 0, ±1, ±2) appear between the bulk valence and conduction bands. Energy tunable by adjusting t₂/t₁ ratio (Supp. Note 2). In photonics: tune d₀/a to shift resonance within the bandgap.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4812360"/>
            <a:ext cx="8321040" cy="155448"/>
          </a:xfrm>
          <a:prstGeom prst="rect">
            <a:avLst/>
          </a:prstGeom>
          <a:solidFill>
            <a:srgbClr val="F8F4E8"/>
          </a:solidFill>
          <a:ln w="7620">
            <a:solidFill>
              <a:srgbClr val="B886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57200" y="4830648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</a:rPr>
              <a:t>TB plot: Hwang et al., Nat. Photon. 18, 286 (2024) — Fig. 2d,e. Energy tunability: Supplementary Note 2, Fig. R1.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7: COMSOL Simulation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2D FEM eigenfrequency analysis · THz scaling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657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COMSOL 6.4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080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Simulation Setup &amp; THz Scaling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89436"/>
            <a:ext cx="4160520" cy="1572768"/>
          </a:xfrm>
          <a:prstGeom prst="rect">
            <a:avLst/>
          </a:prstGeom>
          <a:solidFill>
            <a:srgbClr val="EEF2FF"/>
          </a:solidFill>
          <a:ln w="8890">
            <a:solidFill>
              <a:srgbClr val="0D7C6E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089436"/>
            <a:ext cx="54864" cy="157276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9496" y="107637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FEM Eigenvalue Problem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9496" y="1368986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COMSOL Wave Optics Module (ewfd). Solves ∇×(∇×E) − k₀²ε(r)E = 0 for complex eigenfrequencies ω = ωᵣ + iωᵢ in 2D. Quality factor Q = |ωᵣ / (2ωᵢ)|. Purely real ω → Q → ∞ → topological bound state.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808508"/>
            <a:ext cx="4160520" cy="1572768"/>
          </a:xfrm>
          <a:prstGeom prst="rect">
            <a:avLst/>
          </a:prstGeom>
          <a:solidFill>
            <a:srgbClr val="EEF2FF"/>
          </a:solidFill>
          <a:ln w="8890">
            <a:solidFill>
              <a:srgbClr val="B8860B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2808508"/>
            <a:ext cx="54864" cy="15727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9496" y="279545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Structure Definition via COMSOL JavaScript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9496" y="3088058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The C5 disclination cavity geometry was scripted in COMSOL using the Java/JavaScript API. Volterra transformation coordinates computed analytically, air holes drawn as circles. Enables parametric sweeps of r₀, d₀, and cavity radius.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18888" y="1089436"/>
            <a:ext cx="4160520" cy="1572768"/>
          </a:xfrm>
          <a:prstGeom prst="rect">
            <a:avLst/>
          </a:prstGeom>
          <a:solidFill>
            <a:srgbClr val="EEF2FF"/>
          </a:solidFill>
          <a:ln w="8890">
            <a:solidFill>
              <a:srgbClr val="6B21A8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18888" y="1089436"/>
            <a:ext cx="54864" cy="15727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46904" y="107637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THz Scaling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46904" y="1368986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Original Kivshar design: a = 500 nm, target λ ≈ 1.55 µm. Our THz-scaled design: a = 50 µm (×100), target λ ≈ 345 µm (≈ 0.87 THz). Refractive index: n = 3.33 (InGaAsP or equivalent). Air-hole geometry preserved; only physical length scale changes.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18888" y="2808508"/>
            <a:ext cx="4160520" cy="1572768"/>
          </a:xfrm>
          <a:prstGeom prst="rect">
            <a:avLst/>
          </a:prstGeom>
          <a:solidFill>
            <a:srgbClr val="EEF2FF"/>
          </a:solidFill>
          <a:ln w="8890">
            <a:solidFill>
              <a:srgbClr val="DC262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4818888" y="2808508"/>
            <a:ext cx="54864" cy="15727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46904" y="279545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A6B"/>
                </a:solidFill>
              </a:rPr>
              <a:t>2D vs. 3D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46904" y="3133775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Current results: 2D FEM (in-plane, no slab thickness). In 2D there is no out-of-plane radiation → Q diverges for true in-gap modes. 3D simulation (future work) adds slab radiation loss, giving realistic Q ~ 10³–10⁴. Mode ordering and confinement physics remain valid in 2D.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8: Results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COMSOL Hz field profiles · High-Q modes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675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49366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Hz Field Profiles at 183 THz (Near-IR Scale)</a:t>
            </a:r>
            <a:endParaRPr lang="en-US" sz="2400" dirty="0"/>
          </a:p>
        </p:txBody>
      </p:sp>
      <p:pic>
        <p:nvPicPr>
          <p:cNvPr id="4" name="Image 0" descr="/mnt/user-data/uploads/183THz-86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08318"/>
            <a:ext cx="3781697" cy="2176272"/>
          </a:xfrm>
          <a:prstGeom prst="rect">
            <a:avLst/>
          </a:prstGeom>
        </p:spPr>
      </p:pic>
      <p:pic>
        <p:nvPicPr>
          <p:cNvPr id="5" name="Image 1" descr="/mnt/user-data/uploads/183THz-92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37" y="1208318"/>
            <a:ext cx="4950823" cy="21762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3421166"/>
            <a:ext cx="3781697" cy="420624"/>
          </a:xfrm>
          <a:prstGeom prst="rect">
            <a:avLst/>
          </a:prstGeom>
          <a:solidFill>
            <a:srgbClr val="EEF2FF"/>
          </a:solidFill>
          <a:ln w="7620">
            <a:solidFill>
              <a:srgbClr val="0D7C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393192" y="344859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183.15 + 0.01054i THz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93192" y="363147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E"/>
                </a:solidFill>
              </a:rPr>
              <a:t>Q ≈ 8,691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01737" y="3421166"/>
            <a:ext cx="4950823" cy="420624"/>
          </a:xfrm>
          <a:prstGeom prst="rect">
            <a:avLst/>
          </a:prstGeom>
          <a:solidFill>
            <a:srgbClr val="EEF2FF"/>
          </a:solidFill>
          <a:ln w="7620">
            <a:solidFill>
              <a:srgbClr val="0D7C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828032" y="344859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183.16 + 0.00992i THz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828032" y="363147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E"/>
                </a:solidFill>
              </a:rPr>
              <a:t>Q ≈ 9,230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4181424"/>
            <a:ext cx="2724445" cy="753072"/>
          </a:xfrm>
          <a:prstGeom prst="rect">
            <a:avLst/>
          </a:prstGeom>
          <a:solidFill>
            <a:srgbClr val="EEF2FF"/>
          </a:solidFill>
          <a:ln w="7620">
            <a:solidFill>
              <a:srgbClr val="0D7C6E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20040" y="4181424"/>
            <a:ext cx="52059" cy="530352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29768" y="396980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Degenerate pair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29768" y="4419168"/>
            <a:ext cx="2472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The two modes at 183.15 and 183.16 THz (Δf &lt; 0.02 THz) form a degenerate pair — consistent with C5-symmetric l = ±2 vortex/anti-vortex modes. The near-identical frequencies confirm the pentagonal rotational symmetry of the cavity.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91840" y="4181424"/>
            <a:ext cx="2672385" cy="753072"/>
          </a:xfrm>
          <a:prstGeom prst="rect">
            <a:avLst/>
          </a:prstGeom>
          <a:solidFill>
            <a:srgbClr val="EEF2FF"/>
          </a:solidFill>
          <a:ln w="7620">
            <a:solidFill>
              <a:srgbClr val="B8860B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291840" y="4181424"/>
            <a:ext cx="52059" cy="5303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3401568" y="396980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Hz confinement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01568" y="4419168"/>
            <a:ext cx="2472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The Hz field is strongly localised at the 5 interior corners of the disclination core (bright red/blue lobes), with exponential decay into the surrounding photonic crystal bulk. This spatial confinement is the hallmark of a topologically protected in-gap state.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263640" y="4181423"/>
            <a:ext cx="2715768" cy="753071"/>
          </a:xfrm>
          <a:prstGeom prst="rect">
            <a:avLst/>
          </a:prstGeom>
          <a:solidFill>
            <a:srgbClr val="EEF2FF"/>
          </a:solidFill>
          <a:ln w="7620">
            <a:solidFill>
              <a:srgbClr val="6B21A8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263640" y="4181424"/>
            <a:ext cx="52059" cy="53035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373368" y="396980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Q factor ~8,700–9,200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73368" y="4419168"/>
            <a:ext cx="2472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The complex eigenfrequency Im(ω) ≈ 0.01 THz gives Q = Re(ω)/(2·Im(ω)) ≈ 8,700–9,200 in 2D. This represents the in-plane confinement quality. Full 3D simulation would add out-of-plane leakage, lowering Q but the mode remains in-gap.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756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0175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Hz Field Profiles at 0.866 THz (THz-Scaled Design)</a:t>
            </a:r>
            <a:endParaRPr lang="en-US" sz="2400" dirty="0"/>
          </a:p>
        </p:txBody>
      </p:sp>
      <p:pic>
        <p:nvPicPr>
          <p:cNvPr id="4" name="Image 0" descr="/mnt/user-data/uploads/0_86594THz-79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69127"/>
            <a:ext cx="4434840" cy="2176272"/>
          </a:xfrm>
          <a:prstGeom prst="rect">
            <a:avLst/>
          </a:prstGeom>
        </p:spPr>
      </p:pic>
      <p:pic>
        <p:nvPicPr>
          <p:cNvPr id="5" name="Image 1" descr="/mnt/user-data/uploads/0_86598THz-7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69127"/>
            <a:ext cx="4434840" cy="21762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3381975"/>
            <a:ext cx="4434840" cy="420624"/>
          </a:xfrm>
          <a:prstGeom prst="rect">
            <a:avLst/>
          </a:prstGeom>
          <a:solidFill>
            <a:srgbClr val="EEF2FF"/>
          </a:solidFill>
          <a:ln w="762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393192" y="3409407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0.86594 + 5.43×10⁻⁵i THz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93192" y="3592287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</a:rPr>
              <a:t>Q ≈ 7,972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54880" y="3381975"/>
            <a:ext cx="4138965" cy="420624"/>
          </a:xfrm>
          <a:prstGeom prst="rect">
            <a:avLst/>
          </a:prstGeom>
          <a:solidFill>
            <a:srgbClr val="EEF2FF"/>
          </a:solidFill>
          <a:ln w="762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828032" y="3409407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0.86598 + 6.18×10⁻⁵i THz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828032" y="3592287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</a:rPr>
              <a:t>Q ≈ 7,011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4174889"/>
            <a:ext cx="2715768" cy="851043"/>
          </a:xfrm>
          <a:prstGeom prst="rect">
            <a:avLst/>
          </a:prstGeom>
          <a:solidFill>
            <a:srgbClr val="EEF2FF"/>
          </a:solidFill>
          <a:ln w="7620">
            <a:solidFill>
              <a:srgbClr val="DC2626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20040" y="4174889"/>
            <a:ext cx="52905" cy="85104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29768" y="3930615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THz Scaling ×100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29768" y="4412634"/>
            <a:ext cx="2512967" cy="41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Lattice constant scaled from a = 500 nm → a = 50 µm. Target resonance moves from ~183 THz (near-IR) to ~0.866 THz (sub-THz / THz regime). The scaling preserves all electromagnetic similarity: geometry, mode profiles, and topological properties are identical.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291840" y="4174889"/>
            <a:ext cx="2715768" cy="851043"/>
          </a:xfrm>
          <a:prstGeom prst="rect">
            <a:avLst/>
          </a:prstGeom>
          <a:solidFill>
            <a:srgbClr val="EEF2FF"/>
          </a:solidFill>
          <a:ln w="7620">
            <a:solidFill>
              <a:srgbClr val="0D7C6E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291840" y="4174889"/>
            <a:ext cx="52905" cy="851043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3401568" y="3930615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Radiating fringe pattern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01568" y="4412634"/>
            <a:ext cx="2512967" cy="41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At 0.866 THz, the larger structure (cavity radius ≈ 170 µm) shows visible radiation fringes extending into the surrounding air. This is expected in 2D — the out-of-plane radiation that would be present in a 3D slab appears here as in-plane leakage beyond the crystal boundary.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263640" y="4174889"/>
            <a:ext cx="2715768" cy="851043"/>
          </a:xfrm>
          <a:prstGeom prst="rect">
            <a:avLst/>
          </a:prstGeom>
          <a:solidFill>
            <a:srgbClr val="EEF2FF"/>
          </a:solidFill>
          <a:ln w="7620">
            <a:solidFill>
              <a:srgbClr val="6B21A8">
                <a:alpha val="50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263640" y="4174889"/>
            <a:ext cx="52905" cy="851043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373368" y="3930615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2A6B"/>
                </a:solidFill>
              </a:rPr>
              <a:t>Q ≈ 7,000–8,000 in THz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373368" y="4412634"/>
            <a:ext cx="2512967" cy="41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The Q factor at THz scale remains ~7,000–8,000. This is achieved purely by the photonic bandgap confinement mechanism — no mirrors needed. The modes remain in-gap topological resonances, confirming successful THz adaptation of the design.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310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571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Mode Comparison: Near-IR vs THz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20070"/>
            <a:ext cx="8321040" cy="32918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5664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Parameter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28800" y="125664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Mode A (Near-IR)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66160" y="125664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Mode B (Near-IR)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0" y="125664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Mode A (THz)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0" y="125664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Mode B (THz)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67542"/>
            <a:ext cx="83210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61326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Frequency (THz)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61326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183.15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161326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183.16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161326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0.86594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161326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0.86598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969878"/>
            <a:ext cx="8321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01559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Im(ω) (THz)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201559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0.01054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201559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0.00992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01559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5.43×10⁻⁵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0" y="201559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6.18×10⁻⁵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372214"/>
            <a:ext cx="8321040" cy="384048"/>
          </a:xfrm>
          <a:prstGeom prst="rect">
            <a:avLst/>
          </a:prstGeom>
          <a:solidFill>
            <a:srgbClr val="FFF8E1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41793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Quality Factor Q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241793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E"/>
                </a:solidFill>
              </a:rPr>
              <a:t>~8,691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241793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E"/>
                </a:solidFill>
              </a:rPr>
              <a:t>~9,230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241793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E"/>
                </a:solidFill>
              </a:rPr>
              <a:t>~7,972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241793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7C6E"/>
                </a:solidFill>
              </a:rPr>
              <a:t>~7,011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2774550"/>
            <a:ext cx="8321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282027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Lattice const. 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282027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500 nm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282027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500 nm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82027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50 µm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282027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50 µm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176886"/>
            <a:ext cx="83210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322260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Cavity radius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322260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~1.675 µm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160" y="322260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~1.675 µm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322260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~167.5 µm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40880" y="322260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~167.5 µm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579222"/>
            <a:ext cx="8321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" y="362494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Mode type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28800" y="362494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Degenerate pair (l = ±1)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66160" y="362494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362494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THz-scaled pair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40880" y="362494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3981558"/>
            <a:ext cx="832104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57200" y="402727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6B"/>
                </a:solidFill>
              </a:rPr>
              <a:t>In bandgap?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828800" y="402727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Yes (Q &gt; 10³)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66160" y="402727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Yes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0" y="402727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Yes (Q &gt; 10³)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40880" y="402727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Yes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4374750"/>
            <a:ext cx="8321040" cy="292608"/>
          </a:xfrm>
          <a:prstGeom prst="rect">
            <a:avLst/>
          </a:prstGeom>
          <a:solidFill>
            <a:srgbClr val="F0FDF4"/>
          </a:solidFill>
          <a:ln w="8890">
            <a:solidFill>
              <a:srgbClr val="0D7C6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11480" y="4374750"/>
            <a:ext cx="54864" cy="29260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66928" y="4393038"/>
            <a:ext cx="8119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2A6B"/>
                </a:solidFill>
              </a:rPr>
              <a:t>Both scale versions show near-degenerate mode pairs consistent with C5-symmetric l = ±1 vortex/anti-vortex states. Q ~ 7,000–9,200 in 2D confirms strong bandgap confinement. THz scaling (×100) successfully shifts the resonance to the target THz regime.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6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86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 9: Conclusions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035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</a:rPr>
              <a:t>Key findings · Limitations ·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664208"/>
            <a:ext cx="8321040" cy="713232"/>
          </a:xfrm>
          <a:prstGeom prst="rect">
            <a:avLst/>
          </a:prstGeom>
          <a:solidFill>
            <a:srgbClr val="EEF2FF"/>
          </a:solidFill>
          <a:ln w="8890">
            <a:solidFill>
              <a:srgbClr val="0D7C6E">
                <a:alpha val="52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5488" y="1810512"/>
            <a:ext cx="402336" cy="402336"/>
          </a:xfrm>
          <a:prstGeom prst="ellipse">
            <a:avLst/>
          </a:prstGeom>
          <a:solidFill>
            <a:srgbClr val="0D7C6E">
              <a:alpha val="82000"/>
            </a:srgbClr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7373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6B"/>
                </a:solidFill>
              </a:rPr>
              <a:t>Design Pipeline Validated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201168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C4 HOTI bulk lattice → Volterra process (C4→C5, Ω = π/2) → pentagon disclination cavity. COMSOL 6.4 JavaScript used to build structure and run 2D FEM eigenfrequency analysis. Tight-binding ↔ photonic correspondence confirmed.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B8860B">
                <a:alpha val="52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" y="2615184"/>
            <a:ext cx="402336" cy="402336"/>
          </a:xfrm>
          <a:prstGeom prst="ellipse">
            <a:avLst/>
          </a:prstGeom>
          <a:solidFill>
            <a:srgbClr val="B8860B">
              <a:alpha val="82000"/>
            </a:srgbClr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254203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6B"/>
                </a:solidFill>
              </a:rPr>
              <a:t>High-Q THz Resonances Found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81635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Two near-degenerate modes at 0.86594 and 0.86598 THz (Q ~ 7,000–8,000 in 2D) confirmed in THz-scaled design (a = 50 µm). Mode pairs consistent with C5-symmetric l = ±1 topological vortex/anti-vortex states.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73552"/>
            <a:ext cx="8321040" cy="713232"/>
          </a:xfrm>
          <a:prstGeom prst="rect">
            <a:avLst/>
          </a:prstGeom>
          <a:solidFill>
            <a:srgbClr val="EEF2FF"/>
          </a:solidFill>
          <a:ln w="8890">
            <a:solidFill>
              <a:srgbClr val="6B21A8">
                <a:alpha val="52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" y="3419856"/>
            <a:ext cx="402336" cy="402336"/>
          </a:xfrm>
          <a:prstGeom prst="ellipse">
            <a:avLst/>
          </a:prstGeom>
          <a:solidFill>
            <a:srgbClr val="6B21A8">
              <a:alpha val="82000"/>
            </a:srgbClr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334670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6B"/>
                </a:solidFill>
              </a:rPr>
              <a:t>Bandgap Confinement Mechanism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62102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Resonance frequencies fall inside the photonic bandgap (Gap = 0.320 THz computed by MEEP). Hz field strongly localised at 5 disclination-core sites. Confinement is topologically protected — not sensitive to boundary details.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078224"/>
            <a:ext cx="8321040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C2626">
                <a:alpha val="52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" y="4224528"/>
            <a:ext cx="402336" cy="402336"/>
          </a:xfrm>
          <a:prstGeom prst="ellipse">
            <a:avLst/>
          </a:prstGeom>
          <a:solidFill>
            <a:srgbClr val="DC2626">
              <a:alpha val="82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1513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6B"/>
                </a:solidFill>
              </a:rPr>
              <a:t>THz Scaling Successfully Demonstrated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44256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Scaling lattice constant ×100 (500 nm → 50 µm) shifts resonances from ~183 THz to ~0.866 THz. All topological properties, Q-factor ordering, and mode symmetry preserved. Opens pathway to THz quantum sensing applications.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Limitations &amp;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6642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</a:rPr>
              <a:t>Current Limitations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6642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7C6E"/>
                </a:solidFill>
              </a:rPr>
              <a:t>Future Directions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2011680"/>
            <a:ext cx="4114800" cy="658368"/>
          </a:xfrm>
          <a:prstGeom prst="rect">
            <a:avLst/>
          </a:prstGeom>
          <a:solidFill>
            <a:srgbClr val="FFF0F0"/>
          </a:solidFill>
          <a:ln w="7620">
            <a:solidFill>
              <a:srgbClr val="DC262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2D FEM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3D simulation needed for realistic Q (~10³–10⁴) including out-of-plane slab radiation loss.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761488"/>
            <a:ext cx="4114800" cy="658368"/>
          </a:xfrm>
          <a:prstGeom prst="rect">
            <a:avLst/>
          </a:prstGeom>
          <a:solidFill>
            <a:srgbClr val="FFF0F0"/>
          </a:solidFill>
          <a:ln w="7620">
            <a:solidFill>
              <a:srgbClr val="DC262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2761488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825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No fabrication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Geometry ready in DXF format; physical sample not yet fabricated or measured.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511296"/>
            <a:ext cx="4114800" cy="658368"/>
          </a:xfrm>
          <a:prstGeom prst="rect">
            <a:avLst/>
          </a:prstGeom>
          <a:solidFill>
            <a:srgbClr val="FFF0F0"/>
          </a:solidFill>
          <a:ln w="7620">
            <a:solidFill>
              <a:srgbClr val="DC262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3511296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5753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Mode identification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831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l-assignment based on symmetry/Q; direct phase-winding computation not yet done.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61104"/>
            <a:ext cx="4114800" cy="658368"/>
          </a:xfrm>
          <a:prstGeom prst="rect">
            <a:avLst/>
          </a:prstGeom>
          <a:solidFill>
            <a:srgbClr val="FFF0F0"/>
          </a:solidFill>
          <a:ln w="7620">
            <a:solidFill>
              <a:srgbClr val="DC2626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4261104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4325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Single parameter set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81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Systematic sweep of r₀/a, d₀/a, boundary hopping not yet completed.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011680"/>
            <a:ext cx="3977640" cy="658368"/>
          </a:xfrm>
          <a:prstGeom prst="rect">
            <a:avLst/>
          </a:prstGeom>
          <a:solidFill>
            <a:srgbClr val="F0FDF4"/>
          </a:solidFill>
          <a:ln w="7620">
            <a:solidFill>
              <a:srgbClr val="0D7C6E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54864" cy="65836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92040" y="207568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3D COMSOL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33172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Full slab + PML. Realistic Q-factor, far-field patterns, radiation modes.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761488"/>
            <a:ext cx="3977640" cy="658368"/>
          </a:xfrm>
          <a:prstGeom prst="rect">
            <a:avLst/>
          </a:prstGeom>
          <a:solidFill>
            <a:srgbClr val="F0FDF4"/>
          </a:solidFill>
          <a:ln w="7620">
            <a:solidFill>
              <a:srgbClr val="0D7C6E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761488"/>
            <a:ext cx="54864" cy="65836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92040" y="282549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Fabrication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08152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E-beam lithography or deep-UV on suitable THz substrate. THz near-field microscopy.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511296"/>
            <a:ext cx="3977640" cy="658368"/>
          </a:xfrm>
          <a:prstGeom prst="rect">
            <a:avLst/>
          </a:prstGeom>
          <a:solidFill>
            <a:srgbClr val="F0FDF4"/>
          </a:solidFill>
          <a:ln w="7620">
            <a:solidFill>
              <a:srgbClr val="0D7C6E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3511296"/>
            <a:ext cx="54864" cy="65836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92040" y="357530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OAM characterisation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83133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Fork-fringe interferometry in THz. THz Stokes polarimetry.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4261104"/>
            <a:ext cx="3977640" cy="658368"/>
          </a:xfrm>
          <a:prstGeom prst="rect">
            <a:avLst/>
          </a:prstGeom>
          <a:solidFill>
            <a:srgbClr val="F0FDF4"/>
          </a:solidFill>
          <a:ln w="7620">
            <a:solidFill>
              <a:srgbClr val="0D7C6E">
                <a:alpha val="4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4261104"/>
            <a:ext cx="54864" cy="658368"/>
          </a:xfrm>
          <a:prstGeom prst="rect">
            <a:avLst/>
          </a:prstGeom>
          <a:solidFill>
            <a:srgbClr val="0D7C6E"/>
          </a:solidFill>
          <a:ln w="12700">
            <a:solidFill>
              <a:srgbClr val="0D7C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432511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6B"/>
                </a:solidFill>
              </a:rPr>
              <a:t>Non-Hermitian control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58114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Bus waveguide coupling for exceptional-point OAM switching (cf. Zhang et al.).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6389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B8860B"/>
                </a:solidFill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32253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2A6B"/>
                </a:solidFill>
              </a:rPr>
              <a:t>Key Literature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54757"/>
            <a:ext cx="347472" cy="347472"/>
          </a:xfrm>
          <a:prstGeom prst="rect">
            <a:avLst/>
          </a:prstGeom>
          <a:solidFill>
            <a:srgbClr val="0D7C6E">
              <a:alpha val="82000"/>
            </a:srgbClr>
          </a:solidFill>
          <a:ln w="12700">
            <a:solidFill>
              <a:srgbClr val="0D7C6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15475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[1]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173045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M.-S. Hwang, H.-R. Kim, J. Kim, B.-J. Yang, Y. Kivshar, H.-G. Park, 'Vortex nanolaser based on a photonic disclination cavity,'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92501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Nature Photonics 18, 286–293 (2024)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794837"/>
            <a:ext cx="347472" cy="347472"/>
          </a:xfrm>
          <a:prstGeom prst="rect">
            <a:avLst/>
          </a:prstGeom>
          <a:solidFill>
            <a:srgbClr val="DC2626">
              <a:alpha val="82000"/>
            </a:srgbClr>
          </a:solidFill>
          <a:ln w="12700">
            <a:solidFill>
              <a:srgbClr val="DC262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79483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[2]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813125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Z. Zhang, X. Qiao et al., 'Tunable topological charge vortex microlaser,'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032581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Science 368, 760–763 (2020)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34917"/>
            <a:ext cx="347472" cy="347472"/>
          </a:xfrm>
          <a:prstGeom prst="rect">
            <a:avLst/>
          </a:prstGeom>
          <a:solidFill>
            <a:srgbClr val="6B21A8">
              <a:alpha val="82000"/>
            </a:srgbClr>
          </a:solidFill>
          <a:ln w="12700">
            <a:solidFill>
              <a:srgbClr val="6B21A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43491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[3]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453205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B.-Y. Xie, H.-F. Wang, H.-X. Wang et al., 'Visualization of higher-order topological insulating phases in two-dimensional dielectric photonic crystals,'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672661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Phys. Rev. Lett. 122, 233903 (2019)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74997"/>
            <a:ext cx="347472" cy="347472"/>
          </a:xfrm>
          <a:prstGeom prst="rect">
            <a:avLst/>
          </a:prstGeom>
          <a:solidFill>
            <a:srgbClr val="B8860B">
              <a:alpha val="82000"/>
            </a:srgbClr>
          </a:solidFill>
          <a:ln w="12700">
            <a:solidFill>
              <a:srgbClr val="B886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07499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[4]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093285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COMSOL Multiphysics® v6.4, 'Wave Optics Module, ewfd physics interface,'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12741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COMSOL AB, Stockholm, Sweden (2024)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715077"/>
            <a:ext cx="347472" cy="347472"/>
          </a:xfrm>
          <a:prstGeom prst="rect">
            <a:avLst/>
          </a:prstGeom>
          <a:solidFill>
            <a:srgbClr val="1B2A6B">
              <a:alpha val="82000"/>
            </a:srgbClr>
          </a:solidFill>
          <a:ln w="12700">
            <a:solidFill>
              <a:srgbClr val="1B2A6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71507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[5]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733365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B2A6B"/>
                </a:solidFill>
              </a:rPr>
              <a:t>A. F. Oskooi et al., 'Meep: A flexible free-software package for electromagnetic simulations,'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952821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Comput. Phys. Commun. 181, 687–702 (2010)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382589"/>
            <a:ext cx="8321040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400877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4748B"/>
                </a:solidFill>
              </a:rPr>
              <a:t>Supplementary source used: Kivshar et al., Nat. Photon. 18, 286 (2024) — Supplementary Notes 1 &amp; 2 (TE mode derivation, energy tunability, NNN coupling, filling anomaly)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D7C6E">
              <a:alpha val="7000"/>
            </a:srgbClr>
          </a:solidFill>
          <a:ln w="12700">
            <a:solidFill>
              <a:srgbClr val="0D7C6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6B21A8">
              <a:alpha val="7000"/>
            </a:srgbClr>
          </a:solidFill>
          <a:ln w="12700">
            <a:solidFill>
              <a:srgbClr val="6B21A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91440"/>
            <a:ext cx="1645920" cy="1645920"/>
          </a:xfrm>
          <a:prstGeom prst="ellipse">
            <a:avLst/>
          </a:prstGeom>
          <a:solidFill>
            <a:srgbClr val="B8860B">
              <a:alpha val="12000"/>
            </a:srgbClr>
          </a:solidFill>
          <a:ln w="10160">
            <a:solidFill>
              <a:srgbClr val="B8860B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mnt/user-data/uploads/IISc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868680" cy="868680"/>
          </a:xfrm>
          <a:prstGeom prst="rect">
            <a:avLst/>
          </a:prstGeom>
        </p:spPr>
      </p:pic>
      <p:pic>
        <p:nvPicPr>
          <p:cNvPr id="6" name="Image 1" descr="/mnt/user-data/uploads/IAP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9728"/>
            <a:ext cx="896112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2344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B2A6B"/>
                </a:solidFill>
              </a:rPr>
              <a:t>Thank You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914400" y="22677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C6E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200400" y="2798064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914400" y="28895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B2A6B"/>
                </a:solidFill>
              </a:rPr>
              <a:t>Photonic Disclination Vortex Cavity in THz Regime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6B"/>
                </a:solidFill>
              </a:rPr>
              <a:t>Shaukat Aziz  ·  Sr no: 22171  ·  BSc (Research) in Physics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Thesis Instructor: </a:t>
            </a:r>
            <a:r>
              <a:rPr lang="en-US" sz="1100" b="1" dirty="0">
                <a:solidFill>
                  <a:srgbClr val="1B2A6B"/>
                </a:solidFill>
              </a:rPr>
              <a:t>Prof. Manukumara Manjappa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14400" y="3913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Tera-QuaNTA Research Laboratory · IAP · IISc Bangalore</a:t>
            </a:r>
            <a:endParaRPr lang="en-US" sz="1000" dirty="0"/>
          </a:p>
        </p:txBody>
      </p:sp>
      <p:pic>
        <p:nvPicPr>
          <p:cNvPr id="14" name="Image 2" descr="/mnt/user-data/uploads/TeraQuaNTA-Logo-9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224528"/>
            <a:ext cx="2926080" cy="6583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Refs: Kivshar et al. Nat. Photon. 18 (2024)  ·  Zhang et al. Science 368 (2020)  ·  Xie et al. PRL 122 (2019)  ·  COMSOL 6.4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2872</Words>
  <Application>Microsoft Office PowerPoint</Application>
  <PresentationFormat>On-screen Show (16:9)</PresentationFormat>
  <Paragraphs>294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Photonic Disclination Vortex Cavity in THz Regime</dc:title>
  <dc:subject>PptxGenJS Presentation</dc:subject>
  <dc:creator>PptxGenJS</dc:creator>
  <cp:lastModifiedBy>Abhishek Halder</cp:lastModifiedBy>
  <cp:revision>2</cp:revision>
  <dcterms:created xsi:type="dcterms:W3CDTF">2026-04-24T04:10:49Z</dcterms:created>
  <dcterms:modified xsi:type="dcterms:W3CDTF">2026-04-24T04:17:46Z</dcterms:modified>
</cp:coreProperties>
</file>